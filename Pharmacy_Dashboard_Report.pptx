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Jan'23</c:v>
                  </c:pt>
                  <c:pt idx="1">
                    <c:v>Feb'23</c:v>
                  </c:pt>
                  <c:pt idx="2">
                    <c:v>Mar'23</c:v>
                  </c:pt>
                  <c:pt idx="3">
                    <c:v>Apr'23</c:v>
                  </c:pt>
                  <c:pt idx="4">
                    <c:v>May'23</c:v>
                  </c:pt>
                  <c:pt idx="5">
                    <c:v>Jun'23</c:v>
                  </c:pt>
                  <c:pt idx="6">
                    <c:v>Jul'23</c:v>
                  </c:pt>
                  <c:pt idx="7">
                    <c:v>Aug'23</c:v>
                  </c:pt>
                  <c:pt idx="8">
                    <c:v>Sep'23</c:v>
                  </c:pt>
                  <c:pt idx="9">
                    <c:v>Oct'23</c:v>
                  </c:pt>
                  <c:pt idx="10">
                    <c:v>Nov'23</c:v>
                  </c:pt>
                  <c:pt idx="11">
                    <c:v>Dec'23</c:v>
                  </c:pt>
                  <c:pt idx="12">
                    <c:v>Jan'24</c:v>
                  </c:pt>
                  <c:pt idx="13">
                    <c:v>Feb'24</c:v>
                  </c:pt>
                  <c:pt idx="14">
                    <c:v>Mar'24</c:v>
                  </c:pt>
                  <c:pt idx="15">
                    <c:v>Apr'24</c:v>
                  </c:pt>
                  <c:pt idx="16">
                    <c:v>May'24</c:v>
                  </c:pt>
                  <c:pt idx="17">
                    <c:v>Jun'24</c:v>
                  </c:pt>
                  <c:pt idx="18">
                    <c:v>Jul'24</c:v>
                  </c:pt>
                  <c:pt idx="19">
                    <c:v>Aug'24</c:v>
                  </c:pt>
                  <c:pt idx="20">
                    <c:v>Sep'24</c:v>
                  </c:pt>
                  <c:pt idx="21">
                    <c:v>Oct'24</c:v>
                  </c:pt>
                  <c:pt idx="22">
                    <c:v>Nov'24</c:v>
                  </c:pt>
                  <c:pt idx="23">
                    <c:v>Dec'24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295711</c:v>
                </c:pt>
                <c:pt idx="1">
                  <c:v>250194</c:v>
                </c:pt>
                <c:pt idx="2">
                  <c:v>304290</c:v>
                </c:pt>
                <c:pt idx="3">
                  <c:v>297517</c:v>
                </c:pt>
                <c:pt idx="4">
                  <c:v>291574</c:v>
                </c:pt>
                <c:pt idx="5">
                  <c:v>319755</c:v>
                </c:pt>
                <c:pt idx="6">
                  <c:v>303859</c:v>
                </c:pt>
                <c:pt idx="7">
                  <c:v>297636</c:v>
                </c:pt>
                <c:pt idx="8">
                  <c:v>306481</c:v>
                </c:pt>
                <c:pt idx="9">
                  <c:v>300255</c:v>
                </c:pt>
                <c:pt idx="10">
                  <c:v>306492</c:v>
                </c:pt>
                <c:pt idx="11">
                  <c:v>291327</c:v>
                </c:pt>
                <c:pt idx="12">
                  <c:v>314961</c:v>
                </c:pt>
                <c:pt idx="13">
                  <c:v>303250</c:v>
                </c:pt>
                <c:pt idx="14">
                  <c:v>319826</c:v>
                </c:pt>
                <c:pt idx="15">
                  <c:v>262281</c:v>
                </c:pt>
                <c:pt idx="16">
                  <c:v>308677</c:v>
                </c:pt>
                <c:pt idx="17">
                  <c:v>275111</c:v>
                </c:pt>
                <c:pt idx="18">
                  <c:v>319291</c:v>
                </c:pt>
                <c:pt idx="19">
                  <c:v>283098</c:v>
                </c:pt>
                <c:pt idx="20">
                  <c:v>297706</c:v>
                </c:pt>
                <c:pt idx="21">
                  <c:v>294976</c:v>
                </c:pt>
                <c:pt idx="22">
                  <c:v>306174</c:v>
                </c:pt>
                <c:pt idx="23">
                  <c:v>300165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Purchase</c:v>
                </c:pt>
              </c:strCache>
            </c:strRef>
          </c:tx>
          <c:spPr>
            <a:solidFill>
              <a:srgbClr val="E53E3E"/>
            </a:solidFill>
            <a:ln w="25400" cap="flat">
              <a:solidFill>
                <a:srgbClr val="E53E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3E3E"/>
              </a:solidFill>
              <a:ln w="9525" cap="flat">
                <a:solidFill>
                  <a:srgbClr val="E53E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Jan'23</c:v>
                  </c:pt>
                  <c:pt idx="1">
                    <c:v>Feb'23</c:v>
                  </c:pt>
                  <c:pt idx="2">
                    <c:v>Mar'23</c:v>
                  </c:pt>
                  <c:pt idx="3">
                    <c:v>Apr'23</c:v>
                  </c:pt>
                  <c:pt idx="4">
                    <c:v>May'23</c:v>
                  </c:pt>
                  <c:pt idx="5">
                    <c:v>Jun'23</c:v>
                  </c:pt>
                  <c:pt idx="6">
                    <c:v>Jul'23</c:v>
                  </c:pt>
                  <c:pt idx="7">
                    <c:v>Aug'23</c:v>
                  </c:pt>
                  <c:pt idx="8">
                    <c:v>Sep'23</c:v>
                  </c:pt>
                  <c:pt idx="9">
                    <c:v>Oct'23</c:v>
                  </c:pt>
                  <c:pt idx="10">
                    <c:v>Nov'23</c:v>
                  </c:pt>
                  <c:pt idx="11">
                    <c:v>Dec'23</c:v>
                  </c:pt>
                  <c:pt idx="12">
                    <c:v>Jan'24</c:v>
                  </c:pt>
                  <c:pt idx="13">
                    <c:v>Feb'24</c:v>
                  </c:pt>
                  <c:pt idx="14">
                    <c:v>Mar'24</c:v>
                  </c:pt>
                  <c:pt idx="15">
                    <c:v>Apr'24</c:v>
                  </c:pt>
                  <c:pt idx="16">
                    <c:v>May'24</c:v>
                  </c:pt>
                  <c:pt idx="17">
                    <c:v>Jun'24</c:v>
                  </c:pt>
                  <c:pt idx="18">
                    <c:v>Jul'24</c:v>
                  </c:pt>
                  <c:pt idx="19">
                    <c:v>Aug'24</c:v>
                  </c:pt>
                  <c:pt idx="20">
                    <c:v>Sep'24</c:v>
                  </c:pt>
                  <c:pt idx="21">
                    <c:v>Oct'24</c:v>
                  </c:pt>
                  <c:pt idx="22">
                    <c:v>Nov'24</c:v>
                  </c:pt>
                  <c:pt idx="23">
                    <c:v>Dec'24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184533</c:v>
                </c:pt>
                <c:pt idx="1">
                  <c:v>125036</c:v>
                </c:pt>
                <c:pt idx="2">
                  <c:v>138410</c:v>
                </c:pt>
                <c:pt idx="3">
                  <c:v>145972</c:v>
                </c:pt>
                <c:pt idx="4">
                  <c:v>121127</c:v>
                </c:pt>
                <c:pt idx="5">
                  <c:v>112557</c:v>
                </c:pt>
                <c:pt idx="6">
                  <c:v>127949</c:v>
                </c:pt>
                <c:pt idx="7">
                  <c:v>148559</c:v>
                </c:pt>
                <c:pt idx="8">
                  <c:v>109283</c:v>
                </c:pt>
                <c:pt idx="9">
                  <c:v>103480</c:v>
                </c:pt>
                <c:pt idx="10">
                  <c:v>216726</c:v>
                </c:pt>
                <c:pt idx="11">
                  <c:v>215269</c:v>
                </c:pt>
                <c:pt idx="12">
                  <c:v>116385</c:v>
                </c:pt>
                <c:pt idx="13">
                  <c:v>146869</c:v>
                </c:pt>
                <c:pt idx="14">
                  <c:v>140194</c:v>
                </c:pt>
                <c:pt idx="15">
                  <c:v>140429</c:v>
                </c:pt>
                <c:pt idx="16">
                  <c:v>159449</c:v>
                </c:pt>
                <c:pt idx="17">
                  <c:v>178480</c:v>
                </c:pt>
                <c:pt idx="18">
                  <c:v>150488</c:v>
                </c:pt>
                <c:pt idx="19">
                  <c:v>172202</c:v>
                </c:pt>
                <c:pt idx="20">
                  <c:v>138660</c:v>
                </c:pt>
                <c:pt idx="21">
                  <c:v>136032</c:v>
                </c:pt>
                <c:pt idx="22">
                  <c:v>142073</c:v>
                </c:pt>
                <c:pt idx="23">
                  <c:v>224939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2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47A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976D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BDEF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3F2FD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Respiratory</c:v>
                  </c:pt>
                  <c:pt idx="1">
                    <c:v>Supplement</c:v>
                  </c:pt>
                  <c:pt idx="2">
                    <c:v>Antibiotic</c:v>
                  </c:pt>
                  <c:pt idx="3">
                    <c:v>Antacid</c:v>
                  </c:pt>
                  <c:pt idx="4">
                    <c:v>Cardiac</c:v>
                  </c:pt>
                  <c:pt idx="5">
                    <c:v>Antidiabetic</c:v>
                  </c:pt>
                  <c:pt idx="6">
                    <c:v>Topical</c:v>
                  </c:pt>
                  <c:pt idx="7">
                    <c:v>Analgesic</c:v>
                  </c:pt>
                  <c:pt idx="8">
                    <c:v>Ophthalmic</c:v>
                  </c:pt>
                  <c:pt idx="9">
                    <c:v>Antihypertensive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1832715</c:v>
                </c:pt>
                <c:pt idx="1">
                  <c:v>1052732</c:v>
                </c:pt>
                <c:pt idx="2">
                  <c:v>1019686</c:v>
                </c:pt>
                <c:pt idx="3">
                  <c:v>751002</c:v>
                </c:pt>
                <c:pt idx="4">
                  <c:v>617581</c:v>
                </c:pt>
                <c:pt idx="5">
                  <c:v>544324</c:v>
                </c:pt>
                <c:pt idx="6">
                  <c:v>320418</c:v>
                </c:pt>
                <c:pt idx="7">
                  <c:v>249062</c:v>
                </c:pt>
                <c:pt idx="8">
                  <c:v>231245</c:v>
                </c:pt>
                <c:pt idx="9">
                  <c:v>227976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A2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2C5282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bubble3D val="0"/>
            <c:spPr>
              <a:solidFill>
                <a:srgbClr val="F6AD55"/>
              </a:solidFill>
              <a:effectLst/>
            </c:spPr>
          </c:dPt>
          <c:dPt>
            <c:idx val="4"/>
            <c:bubble3D val="0"/>
            <c:spPr>
              <a:solidFill>
                <a:srgbClr val="E53E3E"/>
              </a:solidFill>
              <a:effectLst/>
            </c:spPr>
          </c:dPt>
          <c:dPt>
            <c:idx val="5"/>
            <c:bubble3D val="0"/>
            <c:spPr>
              <a:solidFill>
                <a:srgbClr val="38A169"/>
              </a:solidFill>
              <a:effectLst/>
            </c:spPr>
          </c:dPt>
          <c:dPt>
            <c:idx val="6"/>
            <c:bubble3D val="0"/>
            <c:spPr>
              <a:solidFill>
                <a:srgbClr val="9B59B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202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202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202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202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202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202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202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Respiratory</c:v>
                </c:pt>
                <c:pt idx="1">
                  <c:v>Supplement</c:v>
                </c:pt>
                <c:pt idx="2">
                  <c:v>Antibiotic</c:v>
                </c:pt>
                <c:pt idx="3">
                  <c:v>Antacid</c:v>
                </c:pt>
                <c:pt idx="4">
                  <c:v>Cardiac</c:v>
                </c:pt>
                <c:pt idx="5">
                  <c:v>Antidiabetic</c:v>
                </c:pt>
                <c:pt idx="6">
                  <c:v>Others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25.6</c:v>
                </c:pt>
                <c:pt idx="1">
                  <c:v>14.7</c:v>
                </c:pt>
                <c:pt idx="2">
                  <c:v>14.3</c:v>
                </c:pt>
                <c:pt idx="3">
                  <c:v>10.5</c:v>
                </c:pt>
                <c:pt idx="4">
                  <c:v>8.6</c:v>
                </c:pt>
                <c:pt idx="5">
                  <c:v>7.6</c:v>
                </c:pt>
                <c:pt idx="6">
                  <c:v>18.7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52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8A16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Ravi</c:v>
                  </c:pt>
                  <c:pt idx="1">
                    <c:v>Arjun</c:v>
                  </c:pt>
                  <c:pt idx="2">
                    <c:v>Priya</c:v>
                  </c:pt>
                  <c:pt idx="3">
                    <c:v>Meena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1831471</c:v>
                </c:pt>
                <c:pt idx="1">
                  <c:v>1791387</c:v>
                </c:pt>
                <c:pt idx="2">
                  <c:v>1768218</c:v>
                </c:pt>
                <c:pt idx="3">
                  <c:v>1759533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2C5282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bubble3D val="0"/>
            <c:spPr>
              <a:solidFill>
                <a:srgbClr val="F6AD55"/>
              </a:solidFill>
              <a:effectLst/>
            </c:spPr>
          </c:dPt>
          <c:dPt>
            <c:idx val="4"/>
            <c:bubble3D val="0"/>
            <c:spPr>
              <a:solidFill>
                <a:srgbClr val="E53E3E"/>
              </a:solidFill>
              <a:effectLst/>
            </c:spPr>
          </c:dPt>
          <c:dPt>
            <c:idx val="5"/>
            <c:bubble3D val="0"/>
            <c:spPr>
              <a:solidFill>
                <a:srgbClr val="38A16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Sri</c:v>
                </c:pt>
                <c:pt idx="1">
                  <c:v>Sun</c:v>
                </c:pt>
                <c:pt idx="2">
                  <c:v>Karnataka</c:v>
                </c:pt>
                <c:pt idx="3">
                  <c:v>Cipla</c:v>
                </c:pt>
                <c:pt idx="4">
                  <c:v>Medplus</c:v>
                </c:pt>
                <c:pt idx="5">
                  <c:v>Alkem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20</c:v>
                </c:pt>
                <c:pt idx="1">
                  <c:v>20</c:v>
                </c:pt>
                <c:pt idx="2">
                  <c:v>18.2</c:v>
                </c:pt>
                <c:pt idx="3">
                  <c:v>17.1</c:v>
                </c:pt>
                <c:pt idx="4">
                  <c:v>12.8</c:v>
                </c:pt>
                <c:pt idx="5">
                  <c:v>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Q1'23</c:v>
                  </c:pt>
                  <c:pt idx="1">
                    <c:v>Q2'23</c:v>
                  </c:pt>
                  <c:pt idx="2">
                    <c:v>Q3'23</c:v>
                  </c:pt>
                  <c:pt idx="3">
                    <c:v>Q4'23</c:v>
                  </c:pt>
                  <c:pt idx="4">
                    <c:v>Q1'24</c:v>
                  </c:pt>
                  <c:pt idx="5">
                    <c:v>Q2'24</c:v>
                  </c:pt>
                  <c:pt idx="6">
                    <c:v>Q3'24</c:v>
                  </c:pt>
                  <c:pt idx="7">
                    <c:v>Q4'24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850195</c:v>
                </c:pt>
                <c:pt idx="1">
                  <c:v>908845</c:v>
                </c:pt>
                <c:pt idx="2">
                  <c:v>907976</c:v>
                </c:pt>
                <c:pt idx="3">
                  <c:v>898075</c:v>
                </c:pt>
                <c:pt idx="4">
                  <c:v>938037</c:v>
                </c:pt>
                <c:pt idx="5">
                  <c:v>846069</c:v>
                </c:pt>
                <c:pt idx="6">
                  <c:v>900096</c:v>
                </c:pt>
                <c:pt idx="7">
                  <c:v>901316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Purchase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Q1'23</c:v>
                  </c:pt>
                  <c:pt idx="1">
                    <c:v>Q2'23</c:v>
                  </c:pt>
                  <c:pt idx="2">
                    <c:v>Q3'23</c:v>
                  </c:pt>
                  <c:pt idx="3">
                    <c:v>Q4'23</c:v>
                  </c:pt>
                  <c:pt idx="4">
                    <c:v>Q1'24</c:v>
                  </c:pt>
                  <c:pt idx="5">
                    <c:v>Q2'24</c:v>
                  </c:pt>
                  <c:pt idx="6">
                    <c:v>Q3'24</c:v>
                  </c:pt>
                  <c:pt idx="7">
                    <c:v>Q4'24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447980</c:v>
                </c:pt>
                <c:pt idx="1">
                  <c:v>379656</c:v>
                </c:pt>
                <c:pt idx="2">
                  <c:v>386791</c:v>
                </c:pt>
                <c:pt idx="3">
                  <c:v>534474</c:v>
                </c:pt>
                <c:pt idx="4">
                  <c:v>403447</c:v>
                </c:pt>
                <c:pt idx="5">
                  <c:v>478357</c:v>
                </c:pt>
                <c:pt idx="6">
                  <c:v>461350</c:v>
                </c:pt>
                <c:pt idx="7">
                  <c:v>502944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Q1'23</c:v>
                  </c:pt>
                  <c:pt idx="1">
                    <c:v>Q2'23</c:v>
                  </c:pt>
                  <c:pt idx="2">
                    <c:v>Q3'23</c:v>
                  </c:pt>
                  <c:pt idx="3">
                    <c:v>Q4'23</c:v>
                  </c:pt>
                  <c:pt idx="4">
                    <c:v>Q1'24</c:v>
                  </c:pt>
                  <c:pt idx="5">
                    <c:v>Q2'24</c:v>
                  </c:pt>
                  <c:pt idx="6">
                    <c:v>Q3'24</c:v>
                  </c:pt>
                  <c:pt idx="7">
                    <c:v>Q4'24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402215</c:v>
                </c:pt>
                <c:pt idx="1">
                  <c:v>529189</c:v>
                </c:pt>
                <c:pt idx="2">
                  <c:v>521185</c:v>
                </c:pt>
                <c:pt idx="3">
                  <c:v>363601</c:v>
                </c:pt>
                <c:pt idx="4">
                  <c:v>534590</c:v>
                </c:pt>
                <c:pt idx="5">
                  <c:v>367712</c:v>
                </c:pt>
                <c:pt idx="6">
                  <c:v>438746</c:v>
                </c:pt>
                <c:pt idx="7">
                  <c:v>398372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1A2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54864" cy="4919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BUSINESS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REPORT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Sales &amp; Purchase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 2023 – 2024  |  2 Years Combined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920240" cy="777240"/>
          </a:xfrm>
          <a:prstGeom prst="rect">
            <a:avLst/>
          </a:prstGeom>
          <a:solidFill>
            <a:srgbClr val="2A3F6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₹71.5L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06040" y="3657600"/>
            <a:ext cx="1920240" cy="777240"/>
          </a:xfrm>
          <a:prstGeom prst="rect">
            <a:avLst/>
          </a:prstGeom>
          <a:solidFill>
            <a:srgbClr val="2A3F6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₹35.9L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4069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Purchase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3657600"/>
            <a:ext cx="1920240" cy="777240"/>
          </a:xfrm>
          <a:prstGeom prst="rect">
            <a:avLst/>
          </a:prstGeom>
          <a:solidFill>
            <a:srgbClr val="2A3F6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4069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03720" y="3657600"/>
            <a:ext cx="1920240" cy="777240"/>
          </a:xfrm>
          <a:prstGeom prst="rect">
            <a:avLst/>
          </a:prstGeom>
          <a:solidFill>
            <a:srgbClr val="2A3F6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₹35.6L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4069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0" y="480060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Business Analytics | Pharmacy Management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— FY 2023 &amp; 2024 Combined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1143000"/>
            <a:ext cx="20574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1887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7160" y="139903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₹71,50,609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" y="176479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2023–Dec 2024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143000"/>
            <a:ext cx="2057400" cy="118872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77440" y="11887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377440" y="139903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₹35,95,099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377440" y="176479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2023–Dec 2024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2057400" cy="118872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1887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17720" y="139903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₹35,55,510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176479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Margin: 49.7%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858000" y="1143000"/>
            <a:ext cx="2057400" cy="118872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1887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GST (SALES)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139903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₹7,48,667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0" y="176479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&amp; 5% Slabs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37160" y="2560320"/>
            <a:ext cx="2057400" cy="1188720"/>
          </a:xfrm>
          <a:prstGeom prst="rect">
            <a:avLst/>
          </a:prstGeom>
          <a:solidFill>
            <a:srgbClr val="4A3B8C"/>
          </a:solidFill>
          <a:ln w="12700">
            <a:solidFill>
              <a:srgbClr val="4A3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7160" y="26060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7160" y="281635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1,27,775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7160" y="318211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25 Products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377440" y="2560320"/>
            <a:ext cx="2057400" cy="1188720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77440" y="26060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PURCHASED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77440" y="281635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90,459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377440" y="318211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 Suppliers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17720" y="2560320"/>
            <a:ext cx="2057400" cy="1188720"/>
          </a:xfrm>
          <a:prstGeom prst="rect">
            <a:avLst/>
          </a:prstGeom>
          <a:solidFill>
            <a:srgbClr val="5C2D6E"/>
          </a:solidFill>
          <a:ln w="12700">
            <a:solidFill>
              <a:srgbClr val="5C2D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17720" y="26060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17720" y="281635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617720" y="318211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+ Walk-in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58000" y="2560320"/>
            <a:ext cx="2057400" cy="118872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0" y="26060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MEMBERS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281635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858000" y="318211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/ Arjun / Priya / Meena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vs 2024 — Revenue, Profit &amp; Purchases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554480"/>
                <a:gridCol w="1554480"/>
                <a:gridCol w="15544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 (₹)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35,65,091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35,85,518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+20,427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Purchases (₹)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17,48,901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18,46,198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+97,298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+5.56%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 (₹)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18,16,190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17,39,320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-76,870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-4.23%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Margin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48.51%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-2.44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Sold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63,879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63,896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Purchased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42,617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47,842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+5,225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+12.26%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 on Sales (₹)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3,81,803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3,66,864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-14,939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-3.91%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EBF8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4622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Key Insight: </a:t>
            </a:r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slightly by +0.57% in 2024, but purchase costs rose +5.56%, compressing profit margin by 2.44 percentage points. Inventory optimization is recommended.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&amp; Profit Trend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Dec 2024 | All figures in ₹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005840"/>
          <a:ext cx="8778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4480560"/>
            <a:ext cx="4114800" cy="502920"/>
          </a:xfrm>
          <a:prstGeom prst="rect">
            <a:avLst/>
          </a:prstGeom>
          <a:solidFill>
            <a:srgbClr val="EBF8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5079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Peak Month: Mar '24 &amp; Jul '24 (₹3.2L+ each)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0" y="4480560"/>
            <a:ext cx="438912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4507992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Dip: Apr '24 (₹2.6L) — likely seasonal/inventory gap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Sales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by product category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669280" y="1005840"/>
          <a:ext cx="3291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669280" y="4297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Respiratory dominates at 25.6% of total sales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Revenue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Active SKUs | Best performers highlighted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3200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97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338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Salbutamol Inhaler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1133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₹9,59,412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40817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 of revenue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82880" y="1828800"/>
            <a:ext cx="320040" cy="54864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8288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82880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18653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Azithromycin 500mg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18653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₹5,96,970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1396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 of revenue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82880" y="2560320"/>
            <a:ext cx="3200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5603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56032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25968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 Syrup 100ml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25968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₹4,69,921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28712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 of revenue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82880" y="3291840"/>
            <a:ext cx="320040" cy="54864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29184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3284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+ D3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0" y="33284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₹4,62,909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36027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 of revenue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82880" y="4023360"/>
            <a:ext cx="320040" cy="54864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023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402336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40599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Amoxicillin 500mg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0" y="40599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₹4,22,716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433425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 of revenue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663440" y="1097280"/>
            <a:ext cx="320040" cy="548640"/>
          </a:xfrm>
          <a:prstGeom prst="rect">
            <a:avLst/>
          </a:prstGeom>
          <a:solidFill>
            <a:srgbClr val="4A3B8C"/>
          </a:solidFill>
          <a:ln w="12700">
            <a:solidFill>
              <a:srgbClr val="4A3B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097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83480" y="109728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74920" y="11338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Antacid Syrup 170ml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23760" y="1133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₹4,14,896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74920" y="140817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 of revenue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663440" y="1828800"/>
            <a:ext cx="320040" cy="548640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18288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83480" y="182880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074920" y="18653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Montelukast 10mg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23760" y="18653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₹4,03,381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74920" y="21396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 of revenue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663440" y="2560320"/>
            <a:ext cx="320040" cy="548640"/>
          </a:xfrm>
          <a:prstGeom prst="rect">
            <a:avLst/>
          </a:prstGeom>
          <a:solidFill>
            <a:srgbClr val="5C2D6E"/>
          </a:solidFill>
          <a:ln w="12700">
            <a:solidFill>
              <a:srgbClr val="5C2D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25603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83480" y="256032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074920" y="25968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D3 60K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23760" y="25968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₹3,53,966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74920" y="28712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 of revenue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663440" y="3291840"/>
            <a:ext cx="320040" cy="54864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983480" y="329184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074920" y="33284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Antiseptic Cream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23760" y="33284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₹3,20,418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74920" y="36027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 of revenue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663440" y="4023360"/>
            <a:ext cx="320040" cy="548640"/>
          </a:xfrm>
          <a:prstGeom prst="rect">
            <a:avLst/>
          </a:prstGeom>
          <a:solidFill>
            <a:srgbClr val="2F5D62"/>
          </a:solidFill>
          <a:ln w="12700">
            <a:solidFill>
              <a:srgbClr val="2F5D6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4023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983480" y="402336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074920" y="40599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Glimepiride 2mg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223760" y="40599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₹3,18,260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074920" y="433425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 of revenue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Performance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 to total revenue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0058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051560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0" y="1051560"/>
            <a:ext cx="54864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35040" y="1097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₹18,31,471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09160" y="14904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25.6% share  •  2,654 bills  •  Avg disc: 7.4%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0" y="1947672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1947672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1993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5040" y="19933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₹17,91,387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09160" y="23865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25.1% share  •  2,598 bills  •  Avg disc: 7.6%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0" y="2843784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2843784"/>
            <a:ext cx="54864" cy="77724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28895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35040" y="288950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₹17,68,218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09160" y="328269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24.7% share  •  2,571 bills  •  Avg disc: 7.5%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0" y="3739896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0" y="3739896"/>
            <a:ext cx="54864" cy="7772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37856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Meena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35040" y="378561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₹17,59,533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09160" y="4178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24.6% share  •  2,558 bills  •  Avg disc: 7.4%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82880" y="4434840"/>
            <a:ext cx="8778240" cy="457200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462272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4 staff members perform within a narrow 1% band (24.6–25.6%) — highly balanced team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Revenue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Active Customers | Revenue breakdown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41148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103120"/>
                <a:gridCol w="1188720"/>
                <a:gridCol w="6400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Walk-in Customer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₹12,05,331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Sunita Devi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₹4,18,789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 Babu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₹4,14,095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Venkat Rao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₹4,12,602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 Sharma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₹4,12,300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Lakshmi Devi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₹4,04,200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Anitha 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₹4,01,814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Rajesh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₹3,95,834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Sangeetha 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₹3,95,068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Lakshmi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₹3,92,497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051560"/>
            <a:ext cx="41148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0" y="10515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Customer Insights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46304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463040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14904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Dominance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92040" y="1737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16.9% of revenue from walk-ins — strong footfall, low loyalty risk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754880" y="212140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121408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2148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92040" y="23957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named customers average ₹3.97L each across 2 years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754880" y="2779776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2779776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28072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Spread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92040" y="30540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= 40.2% of total revenue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754880" y="3438144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3438144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92040" y="34655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Churn Risk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892040" y="37124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customers are active in both 2023 &amp; 2024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754880" y="4096512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4096512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92040" y="412394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892040" y="43708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for walk-in conversion to named accounts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Purchase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Active Suppliers | Procurement breakdown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00584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51560"/>
          <a:ext cx="4389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640080"/>
                <a:gridCol w="12801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(₹)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Products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Sri Balaji Medicals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₹7,18,801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Paracetamol, Antiseptic, Cardiac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Pharma Distributors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₹7,18,249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Vitamins, Supplements, Cardiac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Pharma Dist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₹6,54,224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Antibiotics, Respiratory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Cipla Direct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₹6,12,818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Inhalers, Eye Drops, Syrups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Medplus Wholesale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₹4,59,980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General, Analgesic, Antacid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Alkem Pharma Dist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₹4,31,028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Antibiotics, Supplements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0" y="4343400"/>
            <a:ext cx="4389120" cy="548640"/>
          </a:xfrm>
          <a:prstGeom prst="rect">
            <a:avLst/>
          </a:prstGeom>
          <a:solidFill>
            <a:srgbClr val="EBF8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663440" y="43708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Concentration Risk: Top 2 suppliers hold 40% of purchase value — diversification recommended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Performance 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Purchase &amp; Profit by Quarter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005840"/>
          <a:ext cx="8778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4434840"/>
            <a:ext cx="877824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462272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Q1'24 was the best revenue quarter (₹9.38L) | Q2'24 saw a notable dip (₹8.46L) | Profit margin stable across all quarters at ~48–52%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&amp; Tax Compliance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analysis across sales and purchases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 Slab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Amount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Amount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GST Payable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Slab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₹15,62,946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₹8,01,150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₹37,590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Slab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₹55,87,663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₹27,93,949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₹3,35,127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₹71,50,609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₹35,95,099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₹3,72,717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200400"/>
            <a:ext cx="20116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GST Collected on Sales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4320" y="3767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₹7,48,667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50592" y="3200400"/>
            <a:ext cx="2011680" cy="13716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50592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GST Paid on Purchases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50592" y="3767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₹3,37,502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26864" y="3200400"/>
            <a:ext cx="201168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26864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GST Liability (ITC adjusted)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26864" y="3767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₹4,11,165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03136" y="3200400"/>
            <a:ext cx="2011680" cy="13716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03136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Tax Credit Available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03136" y="3767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₹3,37,502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STRATEGIC RECOMMENDATIONS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4206240" cy="1188720"/>
          </a:xfrm>
          <a:prstGeom prst="rect">
            <a:avLst/>
          </a:prstGeom>
          <a:solidFill>
            <a:srgbClr val="2A3F6F"/>
          </a:solidFill>
          <a:ln w="12700">
            <a:solidFill>
              <a:srgbClr val="3D5A9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54864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Revenue Consistency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stays ₹2.5–3.2L range — highly stable. Focus on pushing above ₹3.5L monthly by Q3 2025.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206240" cy="1188720"/>
          </a:xfrm>
          <a:prstGeom prst="rect">
            <a:avLst/>
          </a:prstGeom>
          <a:solidFill>
            <a:srgbClr val="2A3F6F"/>
          </a:solidFill>
          <a:ln w="12700">
            <a:solidFill>
              <a:srgbClr val="3D5A9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68680"/>
            <a:ext cx="54864" cy="118872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Margin Compression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2801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dropped from 50.95% → 48.51%. Purchase cost inflation is outpacing revenue growth.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206240" cy="1188720"/>
          </a:xfrm>
          <a:prstGeom prst="rect">
            <a:avLst/>
          </a:prstGeom>
          <a:solidFill>
            <a:srgbClr val="2A3F6F"/>
          </a:solidFill>
          <a:ln w="12700">
            <a:solidFill>
              <a:srgbClr val="3D5A9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94560"/>
            <a:ext cx="54864" cy="1188720"/>
          </a:xfrm>
          <a:prstGeom prst="rect">
            <a:avLst/>
          </a:prstGeom>
          <a:solidFill>
            <a:srgbClr val="A0C4FF"/>
          </a:solidFill>
          <a:ln w="12700">
            <a:solidFill>
              <a:srgbClr val="A0C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Respiratory Dominance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category drives 25.6% revenue. Diversify into Dermatology and OTC wellness to reduce category risk.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2194560"/>
            <a:ext cx="4206240" cy="1188720"/>
          </a:xfrm>
          <a:prstGeom prst="rect">
            <a:avLst/>
          </a:prstGeom>
          <a:solidFill>
            <a:srgbClr val="2A3F6F"/>
          </a:solidFill>
          <a:ln w="12700">
            <a:solidFill>
              <a:srgbClr val="3D5A9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94560"/>
            <a:ext cx="54864" cy="1188720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Balanced Team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6060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staff within 1% of each other. Incentivize high-value product recommendations for upselling.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520440"/>
            <a:ext cx="4206240" cy="1188720"/>
          </a:xfrm>
          <a:prstGeom prst="rect">
            <a:avLst/>
          </a:prstGeom>
          <a:solidFill>
            <a:srgbClr val="2A3F6F"/>
          </a:solidFill>
          <a:ln w="12700">
            <a:solidFill>
              <a:srgbClr val="3D5A9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520440"/>
            <a:ext cx="54864" cy="1188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Supplier Concentration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9319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suppliers = 40% of purchases. Onboard 2 additional suppliers for redundancy and negotiation power.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3520440"/>
            <a:ext cx="4206240" cy="1188720"/>
          </a:xfrm>
          <a:prstGeom prst="rect">
            <a:avLst/>
          </a:prstGeom>
          <a:solidFill>
            <a:srgbClr val="2A3F6F"/>
          </a:solidFill>
          <a:ln w="12700">
            <a:solidFill>
              <a:srgbClr val="3D5A9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520440"/>
            <a:ext cx="54864" cy="1188720"/>
          </a:xfrm>
          <a:prstGeom prst="rect">
            <a:avLst/>
          </a:prstGeom>
          <a:solidFill>
            <a:srgbClr val="FFA07A"/>
          </a:solidFill>
          <a:ln w="12700">
            <a:solidFill>
              <a:srgbClr val="FFA0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Discount Optimization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9319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bills carry avg 7.5% discount. Implement tiered loyalty discounts tied to annual spend thresholds.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54864" cy="491947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743200" y="2011680"/>
            <a:ext cx="3657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Business Intelligence Report — FY 2023–2024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834640"/>
            <a:ext cx="1463040" cy="1005840"/>
          </a:xfrm>
          <a:prstGeom prst="rect">
            <a:avLst/>
          </a:prstGeom>
          <a:solidFill>
            <a:srgbClr val="2A3F6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80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₹71.5L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80360" y="2834640"/>
            <a:ext cx="1463040" cy="1005840"/>
          </a:xfrm>
          <a:prstGeom prst="rect">
            <a:avLst/>
          </a:prstGeom>
          <a:solidFill>
            <a:srgbClr val="2A3F6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2880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₹35.6L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8036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1463040" cy="1005840"/>
          </a:xfrm>
          <a:prstGeom prst="rect">
            <a:avLst/>
          </a:prstGeom>
          <a:solidFill>
            <a:srgbClr val="2A3F6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880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6520" y="2834640"/>
            <a:ext cx="1463040" cy="1005840"/>
          </a:xfrm>
          <a:prstGeom prst="rect">
            <a:avLst/>
          </a:prstGeom>
          <a:solidFill>
            <a:srgbClr val="2A3F6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880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0" y="4709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Sales &amp; Purchase Transaction Records | Generated by Business Intelligence System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Business Intelligence Report 2023–2024</dc:title>
  <dc:subject>PptxGenJS Presentation</dc:subject>
  <dc:creator>PptxGenJS</dc:creator>
  <cp:lastModifiedBy>PptxGenJS</cp:lastModifiedBy>
  <cp:revision>1</cp:revision>
  <dcterms:created xsi:type="dcterms:W3CDTF">2026-05-09T15:27:38Z</dcterms:created>
  <dcterms:modified xsi:type="dcterms:W3CDTF">2026-05-09T15:27:38Z</dcterms:modified>
</cp:coreProperties>
</file>